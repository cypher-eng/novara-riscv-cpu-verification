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 1–2 分钟过一遍今天的节奏：告诉学生这节 60 分钟大课分成哪几块、各块大概多长时间，让他们心里有数。强调这是“主导师讲概念、助教带动手”的安排——今天先建立思路和方法，所有上机细节稍后交给助教在 lab 里逐步带。不要在这页停太久，快速进入正题。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开场（约12分钟）。先抛大问题：芯片造出来之后，里面的 bug 能不能像 App 那样打补丁修复？答案是不能——错误会被固化进硬件。用 1994 年 Intel 奔腾 FDIV 除法 bug 举例：一个验证没抓住的小错误，最后召回花了大约 4.75 亿美元；如果在仿真阶段就发现，几乎零成本。落点：这就是为什么验证工程师很值钱，也是这门课要带大家做的事。让学生记住一句话——验证是在制造之前发现问题。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约15分钟。把 CPU 拆成四个最小部件来讲，不要堆术语。寄存器=CPU 内部的极快小格子，强调 x0 永远是 0，后面会反复用到；内存=更大的仓库，存数据和指令；程序计数器 PC=指着当前这条指令的手指，执行完就指向下一条；指令=CPU 认识的一小套固定命令。建议在白板上画一个方框（CPU，里面放寄存器和一个算术单元）+ 旁边一个内存条，边讲边画。让学生明白：复杂芯片也是这几样东西的放大版。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约18分钟，本节核心。CPU 的全部工作就是不停重复一个循环：取指→译码→执行→前进。逐格讲，配合手势像心跳一样重复。强调三点：一次只处理一条指令；PC 决定下一条是谁；分支和跳转的本质就是改写 PC。告诉学生我们给的仿真器就是用 C++ 把这个循环写出来，下周会真的跑起来看。可以现场点名让学生复述这四步，确保记住。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约15分钟。先解释 ISA：CPU 能听懂的词汇表。RISC-V 的卖点——开源、精简、业界和学界都在用，所以最适合教学。用屏幕上的 ADDI x1, x0, 5 现场拆解：读 x0（永远是 0）、加 5、结果写进 x1，所以 x1=5。再次呼应 x0=0 这个梗。结尾点题：指令越简单，越容易实现、验证和推理——这正是这门课能用一个小 CPU 讲清验证的原因。留 2 分钟回应课堂讨论问题：为什么工程师偏爱精简指令集？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交接页：这是大课和 lab 的分界。你只需用一两分钟点题——说明接下来这部分由助教带大家在机器上动手完成，主导师不必讲实现细节。把屏幕上的命令和任务简单过一遍，让学生知道等会儿要做什么、目标是什么，然后把时间交给助教。提醒学生：遇到问题先看 trace、先讲证据，再问助教。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收尾约 2 分钟：用屏幕上这句话给本周做一个有力、正向的总结，让学生感到自己确实学到了真本事。然后预告下周主题，制造期待——一句话点出下周要解决的新问题即可。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"/>
          </a:blip>
          <a:stretch>
            <a:fillRect/>
          </a:stretch>
        </p:blipFill>
        <p:spPr>
          <a:xfrm>
            <a:off x="6172200" y="2514600"/>
            <a:ext cx="3383280" cy="3383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07899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0292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60" kern="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60-MINUTE MAIN LECTURE  ·  LEAD INSTRUCTOR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02920" y="187452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CPU —</a:t>
            </a:r>
            <a:endParaRPr lang="en-US" sz="41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Why Verify It?</a:t>
            </a:r>
            <a:endParaRPr lang="en-US" sz="4100" dirty="0"/>
          </a:p>
        </p:txBody>
      </p:sp>
      <p:sp>
        <p:nvSpPr>
          <p:cNvPr id="6" name="Text 3"/>
          <p:cNvSpPr/>
          <p:nvPr/>
        </p:nvSpPr>
        <p:spPr>
          <a:xfrm>
            <a:off x="502920" y="3346704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   </a:t>
            </a:r>
            <a:pPr indent="0" marL="0">
              <a:buNone/>
            </a:pPr>
            <a:r>
              <a:rPr lang="en-US" sz="1550" i="1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a computer understand and execute instructions?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02920" y="4736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诺瓦留学 NOVARA  ·  RISC-V CPU Verification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· CPU FOUNDATIONS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hour covers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842516" cy="2697480"/>
          </a:xfrm>
          <a:prstGeom prst="roundRect">
            <a:avLst>
              <a:gd name="adj" fmla="val 4963"/>
            </a:avLst>
          </a:prstGeom>
          <a:solidFill>
            <a:srgbClr val="E9F6F4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13282" y="1874520"/>
            <a:ext cx="621792" cy="621792"/>
          </a:xfrm>
          <a:prstGeom prst="ellipse">
            <a:avLst/>
          </a:prstGeom>
          <a:solidFill>
            <a:srgbClr val="0E1B2E"/>
          </a:solidFill>
          <a:ln/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1166" y="2042404"/>
            <a:ext cx="286024" cy="2860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7512" y="18013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9224" y="2679192"/>
            <a:ext cx="15499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verification matters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921258" y="379476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1258" y="379476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601468" y="1600200"/>
            <a:ext cx="1842516" cy="2697480"/>
          </a:xfrm>
          <a:prstGeom prst="roundRect">
            <a:avLst>
              <a:gd name="adj" fmla="val 4963"/>
            </a:avLst>
          </a:prstGeom>
          <a:solidFill>
            <a:srgbClr val="F1F5F9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11830" y="1874520"/>
            <a:ext cx="621792" cy="621792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9714" y="2042404"/>
            <a:ext cx="286024" cy="2860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766060" y="18013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2747772" y="2679192"/>
            <a:ext cx="15499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CPU actually is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3019806" y="379476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019806" y="379476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700016" y="1600200"/>
            <a:ext cx="1842516" cy="2697480"/>
          </a:xfrm>
          <a:prstGeom prst="roundRect">
            <a:avLst>
              <a:gd name="adj" fmla="val 4963"/>
            </a:avLst>
          </a:prstGeom>
          <a:solidFill>
            <a:srgbClr val="E9F6F4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310378" y="1874520"/>
            <a:ext cx="621792" cy="621792"/>
          </a:xfrm>
          <a:prstGeom prst="ellipse">
            <a:avLst/>
          </a:prstGeom>
          <a:solidFill>
            <a:srgbClr val="0E1B2E"/>
          </a:solidFill>
          <a:ln/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8262" y="2042404"/>
            <a:ext cx="286024" cy="28602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864608" y="18013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4846320" y="2679192"/>
            <a:ext cx="15499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· decode · execute</a:t>
            </a:r>
            <a:endParaRPr lang="en-US" sz="1450" dirty="0"/>
          </a:p>
        </p:txBody>
      </p:sp>
      <p:sp>
        <p:nvSpPr>
          <p:cNvPr id="23" name="Shape 18"/>
          <p:cNvSpPr/>
          <p:nvPr/>
        </p:nvSpPr>
        <p:spPr>
          <a:xfrm>
            <a:off x="5118354" y="379476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118354" y="379476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min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798564" y="1600200"/>
            <a:ext cx="1842516" cy="2697480"/>
          </a:xfrm>
          <a:prstGeom prst="roundRect">
            <a:avLst>
              <a:gd name="adj" fmla="val 4963"/>
            </a:avLst>
          </a:prstGeom>
          <a:solidFill>
            <a:srgbClr val="F1F5F9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408926" y="1874520"/>
            <a:ext cx="621792" cy="621792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6810" y="2042404"/>
            <a:ext cx="286024" cy="28602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963156" y="18013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6944868" y="2679192"/>
            <a:ext cx="15499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and our setup</a:t>
            </a:r>
            <a:endParaRPr lang="en-US" sz="1450" dirty="0"/>
          </a:p>
        </p:txBody>
      </p:sp>
      <p:sp>
        <p:nvSpPr>
          <p:cNvPr id="30" name="Shape 24"/>
          <p:cNvSpPr/>
          <p:nvPr/>
        </p:nvSpPr>
        <p:spPr>
          <a:xfrm>
            <a:off x="7216902" y="379476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7216902" y="379476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502920" y="48737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诺瓦留学 NOVARA  ·  RISC-V CPU Verification</a:t>
            </a:r>
            <a:endParaRPr lang="en-US" sz="850" dirty="0"/>
          </a:p>
        </p:txBody>
      </p:sp>
      <p:sp>
        <p:nvSpPr>
          <p:cNvPr id="33" name="Text 27"/>
          <p:cNvSpPr/>
          <p:nvPr/>
        </p:nvSpPr>
        <p:spPr>
          <a:xfrm>
            <a:off x="5897880" y="4873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· Roadmap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· THE STAKES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bug in silicon cannot be patched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chip is manufactured, a mistake is frozen into hardware. There is no software update. This is why companies verify processors exhaustively before they are ever built — and why verification engineers are some of the most valued people in the industry.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0" y="1417320"/>
            <a:ext cx="3154680" cy="2697480"/>
          </a:xfrm>
          <a:prstGeom prst="roundRect">
            <a:avLst>
              <a:gd name="adj" fmla="val 3390"/>
            </a:avLst>
          </a:prstGeom>
          <a:solidFill>
            <a:srgbClr val="E9F6F4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715000" y="1627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PENTIUM LESSON, 1994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715000" y="199339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$475M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715000" y="2743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Intel's recall cost for one division bug that escaped verification.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715000" y="3383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earlier, in simulation, the fix would have cost almost nothing.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48737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诺瓦留学 NOVARA  ·  RISC-V CPU Verification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897880" y="4873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· THE MACHINE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CPU is simpler than it looks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E9F6F4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0664" y="1700784"/>
            <a:ext cx="566928" cy="566928"/>
          </a:xfrm>
          <a:prstGeom prst="ellipse">
            <a:avLst/>
          </a:prstGeom>
          <a:solidFill>
            <a:srgbClr val="0E1B2E"/>
          </a:solidFill>
          <a:ln/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735" y="1853855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00784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63040" y="2084832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tiny, ultra-fast slots inside the CPU. Our CPU has x0–x31; x0 is always 0.</a:t>
            </a:r>
            <a:endParaRPr lang="en-US" sz="1180" dirty="0"/>
          </a:p>
        </p:txBody>
      </p:sp>
      <p:sp>
        <p:nvSpPr>
          <p:cNvPr id="9" name="Shape 6"/>
          <p:cNvSpPr/>
          <p:nvPr/>
        </p:nvSpPr>
        <p:spPr>
          <a:xfrm>
            <a:off x="470916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1F5F9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46904" y="1700784"/>
            <a:ext cx="566928" cy="566928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9975" y="1853855"/>
            <a:ext cx="260787" cy="2607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1700784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669280" y="2084832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larger store for data and instructions. Ours holds 256 words.</a:t>
            </a:r>
            <a:endParaRPr lang="en-US" sz="1180" dirty="0"/>
          </a:p>
        </p:txBody>
      </p:sp>
      <p:sp>
        <p:nvSpPr>
          <p:cNvPr id="14" name="Shape 10"/>
          <p:cNvSpPr/>
          <p:nvPr/>
        </p:nvSpPr>
        <p:spPr>
          <a:xfrm>
            <a:off x="502920" y="3136392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1F5F9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0664" y="3374136"/>
            <a:ext cx="566928" cy="566928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735" y="3527207"/>
            <a:ext cx="260787" cy="2607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37413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counter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463040" y="3758184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at the current instruction, then moves to the next.</a:t>
            </a:r>
            <a:endParaRPr lang="en-US" sz="1180" dirty="0"/>
          </a:p>
        </p:txBody>
      </p:sp>
      <p:sp>
        <p:nvSpPr>
          <p:cNvPr id="19" name="Shape 14"/>
          <p:cNvSpPr/>
          <p:nvPr/>
        </p:nvSpPr>
        <p:spPr>
          <a:xfrm>
            <a:off x="4709160" y="3136392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E9F6F4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46904" y="3374136"/>
            <a:ext cx="566928" cy="566928"/>
          </a:xfrm>
          <a:prstGeom prst="ellipse">
            <a:avLst/>
          </a:prstGeom>
          <a:solidFill>
            <a:srgbClr val="0E1B2E"/>
          </a:solidFill>
          <a:ln/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9975" y="3527207"/>
            <a:ext cx="260787" cy="26078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69280" y="337413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669280" y="3758184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small, fixed commands the CPU knows how to perform.</a:t>
            </a:r>
            <a:endParaRPr lang="en-US" sz="1180" dirty="0"/>
          </a:p>
        </p:txBody>
      </p:sp>
      <p:sp>
        <p:nvSpPr>
          <p:cNvPr id="24" name="Text 18"/>
          <p:cNvSpPr/>
          <p:nvPr/>
        </p:nvSpPr>
        <p:spPr>
          <a:xfrm>
            <a:off x="502920" y="48737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诺瓦留学 NOVARA  ·  RISC-V CPU Verification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5897880" y="4873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· THE HEARTBEAT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CPU repeats one simple loop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863090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801368"/>
            <a:ext cx="18630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2313432"/>
            <a:ext cx="18630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12648" y="2679192"/>
            <a:ext cx="16436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instruction the PC points to.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8014" y="2432304"/>
            <a:ext cx="164592" cy="16459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594610" y="1600200"/>
            <a:ext cx="1863090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594610" y="1801368"/>
            <a:ext cx="18630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2594610" y="2313432"/>
            <a:ext cx="18630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704338" y="2679192"/>
            <a:ext cx="16436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what it means and which registers it uses.</a:t>
            </a:r>
            <a:endParaRPr lang="en-US" sz="11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704" y="2432304"/>
            <a:ext cx="164592" cy="16459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686300" y="1600200"/>
            <a:ext cx="1863090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4686300" y="1801368"/>
            <a:ext cx="18630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4686300" y="2313432"/>
            <a:ext cx="18630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796028" y="2679192"/>
            <a:ext cx="16436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operation — add, store, compare, jump.</a:t>
            </a:r>
            <a:endParaRPr lang="en-US" sz="11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394" y="2432304"/>
            <a:ext cx="164592" cy="164592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777990" y="1600200"/>
            <a:ext cx="1863090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6777990" y="1801368"/>
            <a:ext cx="18630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21" name="Text 16"/>
          <p:cNvSpPr/>
          <p:nvPr/>
        </p:nvSpPr>
        <p:spPr>
          <a:xfrm>
            <a:off x="6777990" y="2313432"/>
            <a:ext cx="18630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887718" y="2679192"/>
            <a:ext cx="16436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PC on, and repeat.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502920" y="37033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simulator does exactly this, one instruction at a time, in plain C++.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502920" y="48737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诺瓦留学 NOVARA  ·  RISC-V CPU Verification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5897880" y="4873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· THE LANGUAGE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RISC-V: the instruction set we use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instruction set architecture (ISA) is the vocabulary a CPU understands. 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is open, simple, and real — used across industry and universities, which makes it perfect for learning.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0" y="141732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14300" dist="38100" dir="5400000">
              <a:srgbClr val="0B1622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230368" y="1600200"/>
            <a:ext cx="100584" cy="100584"/>
          </a:xfrm>
          <a:prstGeom prst="ellipse">
            <a:avLst/>
          </a:prstGeom>
          <a:solidFill>
            <a:srgbClr val="EF6B6B"/>
          </a:solidFill>
          <a:ln/>
        </p:spPr>
      </p:sp>
      <p:sp>
        <p:nvSpPr>
          <p:cNvPr id="7" name="Shape 5"/>
          <p:cNvSpPr/>
          <p:nvPr/>
        </p:nvSpPr>
        <p:spPr>
          <a:xfrm>
            <a:off x="5431536" y="1600200"/>
            <a:ext cx="100584" cy="100584"/>
          </a:xfrm>
          <a:prstGeom prst="ellipse">
            <a:avLst/>
          </a:prstGeom>
          <a:solidFill>
            <a:srgbClr val="F5BE4F"/>
          </a:solidFill>
          <a:ln/>
        </p:spPr>
      </p:sp>
      <p:sp>
        <p:nvSpPr>
          <p:cNvPr id="8" name="Shape 6"/>
          <p:cNvSpPr/>
          <p:nvPr/>
        </p:nvSpPr>
        <p:spPr>
          <a:xfrm>
            <a:off x="5632704" y="1600200"/>
            <a:ext cx="100584" cy="100584"/>
          </a:xfrm>
          <a:prstGeom prst="ellipse">
            <a:avLst/>
          </a:prstGeom>
          <a:solidFill>
            <a:srgbClr val="5FD08A"/>
          </a:solidFill>
          <a:ln/>
        </p:spPr>
      </p:sp>
      <p:sp>
        <p:nvSpPr>
          <p:cNvPr id="9" name="Text 7"/>
          <p:cNvSpPr/>
          <p:nvPr/>
        </p:nvSpPr>
        <p:spPr>
          <a:xfrm>
            <a:off x="5285232" y="1874520"/>
            <a:ext cx="30998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ADDI x1, x0, 5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take x0  (always 0)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 5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store the result in x1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33832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  </a:t>
            </a:r>
            <a:pPr indent="0" marL="0">
              <a:buNone/>
            </a:pPr>
            <a:r>
              <a:rPr lang="en-US" sz="135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 becomes 5.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02920" y="3520440"/>
            <a:ext cx="420624" cy="420624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488" y="3634008"/>
            <a:ext cx="193487" cy="19348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69848" y="35387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commands → easy to build, test, and reason about.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02920" y="48737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诺瓦留学 NOVARA  ·  RISC-V CPU Verification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897880" y="4873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YOUR TAs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lab: see the machine for yourself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29844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 will walk you through the Week 1 worksheet — no coding yet, just understanding.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3977640" cy="2743200"/>
          </a:xfrm>
          <a:prstGeom prst="roundRect">
            <a:avLst>
              <a:gd name="adj" fmla="val 2667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14300" dist="38100" dir="5400000">
              <a:srgbClr val="0B1622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04088" y="2011680"/>
            <a:ext cx="100584" cy="100584"/>
          </a:xfrm>
          <a:prstGeom prst="ellipse">
            <a:avLst/>
          </a:prstGeom>
          <a:solidFill>
            <a:srgbClr val="EF6B6B"/>
          </a:solidFill>
          <a:ln/>
        </p:spPr>
      </p:sp>
      <p:sp>
        <p:nvSpPr>
          <p:cNvPr id="8" name="Shape 6"/>
          <p:cNvSpPr/>
          <p:nvPr/>
        </p:nvSpPr>
        <p:spPr>
          <a:xfrm>
            <a:off x="905256" y="2011680"/>
            <a:ext cx="100584" cy="100584"/>
          </a:xfrm>
          <a:prstGeom prst="ellipse">
            <a:avLst/>
          </a:prstGeom>
          <a:solidFill>
            <a:srgbClr val="F5BE4F"/>
          </a:solidFill>
          <a:ln/>
        </p:spPr>
      </p:sp>
      <p:sp>
        <p:nvSpPr>
          <p:cNvPr id="9" name="Shape 7"/>
          <p:cNvSpPr/>
          <p:nvPr/>
        </p:nvSpPr>
        <p:spPr>
          <a:xfrm>
            <a:off x="1106424" y="2011680"/>
            <a:ext cx="100584" cy="100584"/>
          </a:xfrm>
          <a:prstGeom prst="ellipse">
            <a:avLst/>
          </a:prstGeom>
          <a:solidFill>
            <a:srgbClr val="5FD08A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" y="2286000"/>
            <a:ext cx="346557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1 — CPU Foundations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 1  draw the CPU system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 2  decode an instruction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ADDI x1, x0, 7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 3  explain the data flow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783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session you will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2139696"/>
            <a:ext cx="310896" cy="310896"/>
          </a:xfrm>
          <a:prstGeom prst="ellipse">
            <a:avLst/>
          </a:prstGeom>
          <a:solidFill>
            <a:srgbClr val="0E1B2E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2139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39512" y="2103120"/>
            <a:ext cx="3401568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a CPU with registers, memory, and an instruction.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800600" y="2747772"/>
            <a:ext cx="310896" cy="310896"/>
          </a:xfrm>
          <a:prstGeom prst="ellipse">
            <a:avLst/>
          </a:prstGeom>
          <a:solidFill>
            <a:srgbClr val="0E1B2E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27477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39512" y="2711196"/>
            <a:ext cx="3401568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instructions by hand, register by register.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800600" y="3355848"/>
            <a:ext cx="310896" cy="310896"/>
          </a:xfrm>
          <a:prstGeom prst="ellipse">
            <a:avLst/>
          </a:prstGeom>
          <a:solidFill>
            <a:srgbClr val="0E1B2E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39512" y="3319272"/>
            <a:ext cx="3401568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information moves between the parts.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800600" y="3963924"/>
            <a:ext cx="310896" cy="310896"/>
          </a:xfrm>
          <a:prstGeom prst="ellipse">
            <a:avLst/>
          </a:prstGeom>
          <a:solidFill>
            <a:srgbClr val="0E1B2E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39639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39512" y="3927348"/>
            <a:ext cx="3401568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vocabulary you will use for the next four weeks.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" y="48737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诺瓦留学 NOVARA  ·  RISC-V CPU Verification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897880" y="4873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· Lab handoff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234440"/>
            <a:ext cx="731520" cy="73152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430" y="1431950"/>
            <a:ext cx="336499" cy="3364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1031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now</a:t>
            </a:r>
            <a:endParaRPr lang="en-US" sz="3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engineers.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02920" y="32004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understand the machine. Next, you will watch it run — and learn to read what it is doing.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4023360"/>
            <a:ext cx="7315200" cy="566928"/>
          </a:xfrm>
          <a:prstGeom prst="roundRect">
            <a:avLst>
              <a:gd name="adj" fmla="val 16129"/>
            </a:avLst>
          </a:prstGeom>
          <a:solidFill>
            <a:srgbClr val="16293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402336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 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simulator — fetch, execute, and the execution trace.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02920" y="4736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诺瓦留学 NOVARA  ·  RISC-V CPU Verification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 — CPU Foundations</dc:title>
  <dc:subject>PptxGenJS Presentation</dc:subject>
  <dc:creator>诺瓦留学 NOVARA</dc:creator>
  <cp:lastModifiedBy>诺瓦留学 NOVARA</cp:lastModifiedBy>
  <cp:revision>1</cp:revision>
  <dcterms:created xsi:type="dcterms:W3CDTF">2026-06-15T18:53:07Z</dcterms:created>
  <dcterms:modified xsi:type="dcterms:W3CDTF">2026-06-15T18:53:07Z</dcterms:modified>
</cp:coreProperties>
</file>