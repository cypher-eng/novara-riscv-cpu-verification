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1–2 分钟过一遍今天的节奏：告诉学生这节 60 分钟大课分成哪几块、各块大概多长时间，让他们心里有数。强调这是“主导师讲概念、助教带动手”的安排——今天先建立思路和方法，所有上机细节稍后交给助教在 lab 里逐步带。不要在这页停太久，快速进入正题。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约12分钟。定义仿真器：一个模仿 CPU 行为的程序。核心卖点用左右对比讲——仿真器便宜、即时、内部完全可见、随便改随便重跑；真实硅片昂贵、内部难观测、改一次代价巨大。让学生体会到：正因为可观测，仿真才是验证的主战场。强调“可见性”这个词，下面讲 trace 会再用到。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约15分钟。把验证台的工作讲成一个自动循环：装载程序→执行→检查最终寄存器值是否符合预期→逐条报告 PASS/FAIL。强调“预期值”这个概念——你必须事先知道正确答案，这是第三周测试设计的铺垫。让学生明白：测试不是把程序跑一遍看看，而是拿结果和事先算好的答案比对。第四步报告 PASS/FAIL 是工程化的关键，用绿色高亮一下。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约15分钟。不要逐条念指令，按家族讲：算术逻辑、立即数、访存、分支跳转。点明一共 20 条，其中 7 条（ADD SUB ADDI LW SW BEQ BNE）是必修核心，人人要懂；其余是给想做得更好的同学准备的，可以写出更丰富的测试、把覆盖率拉高——这一点直接关系到结课的推荐信标准。立即数和寄存器版的区别（ADD vs ADDI）点一下即可，细节交给助教在 lab 里讲。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约18分钟，本节核心，也是整门课最关键的技能。带着学生逐行读 trace：PC 告诉你是第几条指令，中间是执行了什么，竖线后面是操作数和结果。重点讲那行高亮的 x3 = 5 + 3 = 8——这就是 CPU 算出来的过程被写在纸面上。强调：当测试失败时，trace 会告诉你 CPU 到底做了什么，所以第四周调试完全靠它。让学生现在就习惯“看 trace 找证据”的思维。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交接页：这是大课和 lab 的分界。你只需用一两分钟点题——说明接下来这部分由助教带大家在机器上动手完成，主导师不必讲实现细节。把屏幕上的命令和任务简单过一遍，让学生知道等会儿要做什么、目标是什么，然后把时间交给助教。提醒学生：遇到问题先看 trace、先讲证据，再问助教。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收尾约 2 分钟：用屏幕上这句话给本周做一个有力、正向的总结，让学生感到自己确实学到了真本事。然后预告下周主题，制造期待——一句话点出下周要解决的新问题即可。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"/>
          </a:blip>
          <a:stretch>
            <a:fillRect/>
          </a:stretch>
        </p:blipFill>
        <p:spPr>
          <a:xfrm>
            <a:off x="6172200" y="2514600"/>
            <a:ext cx="3383280" cy="3383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78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50292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60" kern="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MAIN LECTURE  ·  LEAD INSTRUCTOR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0292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</a:t>
            </a:r>
            <a:endParaRPr lang="en-US" sz="41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4100" dirty="0"/>
          </a:p>
        </p:txBody>
      </p:sp>
      <p:sp>
        <p:nvSpPr>
          <p:cNvPr id="6" name="Text 3"/>
          <p:cNvSpPr/>
          <p:nvPr/>
        </p:nvSpPr>
        <p:spPr>
          <a:xfrm>
            <a:off x="502920" y="33467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   </a:t>
            </a:r>
            <a:pPr indent="0" marL="0">
              <a:buNone/>
            </a:pPr>
            <a:r>
              <a:rPr lang="en-US" sz="155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model a real CPU using C++?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RISC-V AND SIMULATION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hour covers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3282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166" y="204240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9224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simulator models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21258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1258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601468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1830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714" y="2042404"/>
            <a:ext cx="286024" cy="2860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66060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747772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flow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3019806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19806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00016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0378" y="1874520"/>
            <a:ext cx="621792" cy="621792"/>
          </a:xfrm>
          <a:prstGeom prst="ellipse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262" y="2042404"/>
            <a:ext cx="286024" cy="286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64608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846320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RV32I instruction set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5118354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18354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98564" y="1600200"/>
            <a:ext cx="1842516" cy="2697480"/>
          </a:xfrm>
          <a:prstGeom prst="roundRect">
            <a:avLst>
              <a:gd name="adj" fmla="val 4963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08926" y="1874520"/>
            <a:ext cx="621792" cy="62179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810" y="2042404"/>
            <a:ext cx="286024" cy="2860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63156" y="1801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944868" y="2679192"/>
            <a:ext cx="15499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trace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7216902" y="37947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BE3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216902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Roadmap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behaves like hardware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is a program that imitates a CPU. We can run real instructions on it and check the results — long before any chip exists.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931920" cy="2240280"/>
          </a:xfrm>
          <a:prstGeom prst="roundRect">
            <a:avLst>
              <a:gd name="adj" fmla="val 4082"/>
            </a:avLst>
          </a:prstGeom>
          <a:solidFill>
            <a:srgbClr val="E9F6F4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04872"/>
            <a:ext cx="530352" cy="53035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147" y="2548067"/>
            <a:ext cx="243962" cy="2439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and instant</a:t>
            </a:r>
            <a:endParaRPr lang="en-US" sz="12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observable — see every register</a:t>
            </a:r>
            <a:endParaRPr lang="en-US" sz="12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change and re-run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4709160" y="2148840"/>
            <a:ext cx="3931920" cy="2240280"/>
          </a:xfrm>
          <a:prstGeom prst="roundRect">
            <a:avLst>
              <a:gd name="adj" fmla="val 4082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65192" y="2404872"/>
            <a:ext cx="530352" cy="530352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387" y="2548067"/>
            <a:ext cx="243962" cy="2439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silicon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0" y="31089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 manufacture</a:t>
            </a:r>
            <a:endParaRPr lang="en-US" sz="12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see inside</a:t>
            </a:r>
            <a:endParaRPr lang="en-US" sz="128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8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costly to fix</a:t>
            </a:r>
            <a:endParaRPr lang="en-US" sz="1280" dirty="0"/>
          </a:p>
        </p:txBody>
      </p:sp>
      <p:sp>
        <p:nvSpPr>
          <p:cNvPr id="15" name="Text 11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testbench does, every time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automatic cycle is the foundation of everything you will do for the rest of the course.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33272" y="192024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assembly program into the CPU.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642616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3272" y="2596896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through the fetch-execute loop.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319272"/>
            <a:ext cx="384048" cy="384048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3273552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final register values to what we expect.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33272" y="3950208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PASS or FAIL for every test.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THE TOOLKIT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RV32I instruction set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4106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73736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16642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logic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SUB AND OR XOR SLL SRL SLT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0016" y="1463040"/>
            <a:ext cx="394106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56048" y="1737360"/>
            <a:ext cx="182880" cy="182880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0" name="Text 8"/>
          <p:cNvSpPr/>
          <p:nvPr/>
        </p:nvSpPr>
        <p:spPr>
          <a:xfrm>
            <a:off x="5266944" y="1664208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74336" y="2121408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 ANDI ORI SLLI SLTI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394106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8952" y="334670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32735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730752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LW   SW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0016" y="3072384"/>
            <a:ext cx="3941064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DBE3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62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56048" y="3346704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5266944" y="327355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jump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74336" y="3730752"/>
            <a:ext cx="3438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0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BEQ BNE BLT BGE   JAL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instructions in total.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are the required core; the rest let you write richer tests and push your coverage higher.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THE KEY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execution trace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shows what the CPU did at every step — the single most important skill in this course.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8138160" cy="1600200"/>
          </a:xfrm>
          <a:prstGeom prst="roundRect">
            <a:avLst>
              <a:gd name="adj" fmla="val 4571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10312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210312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" y="210312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2377440"/>
            <a:ext cx="7626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PC=0  ADDI x1, x0, 5  | x1 = 0 + 5 = 5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9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PC=1  ADDI x2, x0, 3  | x2 = 0 + 3 = 3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PC=2  ADD  x3, x1, x2 | x3 = 5 + 3 = 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PC=2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404164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instruction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00984" y="37490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x3,x1,x2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00984" y="404164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9048" y="374904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 = 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9048" y="404164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operands and result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TAs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lab: run your first simulation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 will get everyone building and running the testbench — your first real verification.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14300" dist="38100" dir="5400000">
              <a:srgbClr val="0B1622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4088" y="2011680"/>
            <a:ext cx="100584" cy="100584"/>
          </a:xfrm>
          <a:prstGeom prst="ellipse">
            <a:avLst/>
          </a:prstGeom>
          <a:solidFill>
            <a:srgbClr val="E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2011680"/>
            <a:ext cx="100584" cy="100584"/>
          </a:xfrm>
          <a:prstGeom prst="ellipse">
            <a:avLst/>
          </a:prstGeom>
          <a:solidFill>
            <a:srgbClr val="F5BE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6424" y="2011680"/>
            <a:ext cx="100584" cy="100584"/>
          </a:xfrm>
          <a:prstGeom prst="ellipse">
            <a:avLst/>
          </a:prstGeom>
          <a:solidFill>
            <a:srgbClr val="5FD08A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286000"/>
            <a:ext cx="34655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starter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./riscv_testbench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arithmetic_basic.asm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[PASS] memory_basic.asm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Summary: 6/6 tests passed.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 you will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139696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9512" y="2103120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simulator from source with one command.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2747772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2747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39512" y="2711196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 suite and read your first verification log.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9512" y="3319272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PASS line to the program that produced 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00600" y="3963924"/>
            <a:ext cx="310896" cy="310896"/>
          </a:xfrm>
          <a:prstGeom prst="ellipse">
            <a:avLst/>
          </a:prstGeom>
          <a:solidFill>
            <a:srgbClr val="0E1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9639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9512" y="3927348"/>
            <a:ext cx="3401568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trace and find the final register values.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48737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Lab handoff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3444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5400000">
              <a:srgbClr val="0B1622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30" y="1431950"/>
            <a:ext cx="336499" cy="3364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1031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run it.</a:t>
            </a:r>
            <a:endParaRPr lang="en-US" sz="3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make it prove itself.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tests that already pass is easy. Next week you become the one who writes them.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4023360"/>
            <a:ext cx="7315200" cy="566928"/>
          </a:xfrm>
          <a:prstGeom prst="roundRect">
            <a:avLst>
              <a:gd name="adj" fmla="val 16129"/>
            </a:avLst>
          </a:prstGeom>
          <a:solidFill>
            <a:srgbClr val="16293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0233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testing — how do engineers know a processor is correct?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4736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诺瓦留学 NOVARA  ·  RISC-V CPU Verification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Inside the Simulator</dc:title>
  <dc:subject>PptxGenJS Presentation</dc:subject>
  <dc:creator>诺瓦留学 NOVARA</dc:creator>
  <cp:lastModifiedBy>诺瓦留学 NOVARA</cp:lastModifiedBy>
  <cp:revision>1</cp:revision>
  <dcterms:created xsi:type="dcterms:W3CDTF">2026-06-15T18:53:07Z</dcterms:created>
  <dcterms:modified xsi:type="dcterms:W3CDTF">2026-06-15T18:53:07Z</dcterms:modified>
</cp:coreProperties>
</file>